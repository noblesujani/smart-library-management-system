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95" r:id="rId7"/>
    <p:sldId id="298" r:id="rId8"/>
    <p:sldId id="297" r:id="rId9"/>
    <p:sldId id="296" r:id="rId10"/>
    <p:sldId id="289" r:id="rId11"/>
    <p:sldId id="262" r:id="rId12"/>
    <p:sldId id="264" r:id="rId13"/>
    <p:sldId id="278" r:id="rId14"/>
    <p:sldId id="266" r:id="rId15"/>
    <p:sldId id="258" r:id="rId16"/>
    <p:sldId id="276" r:id="rId17"/>
    <p:sldId id="29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69" d="100"/>
          <a:sy n="69" d="100"/>
        </p:scale>
        <p:origin x="-780" y="-10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xmlns="" id="{9D2AF524-D4B4-4A3A-9CE4-EDAFE1D5A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xmlns="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xmlns="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xmlns="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xmlns="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xmlns="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xmlns="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D3795F91-C721-4363-956D-756673AE7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8AC14461-E27D-413D-B31A-47B74646AF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4D6AEA4C-7710-4829-BA87-8DD77F1593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9BD473E-6203-491C-87AC-54AC0AB233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xmlns="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xmlns="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xmlns="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xmlns="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xmlns="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xmlns="" id="{9298DCF7-7DC1-4618-8133-F63847B0AF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653A6567-233D-4A3B-B52B-DE7E5E35A1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64D564EB-CA78-42C6-AD76-3C4E7B3AEA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1CFFBB3A-BDCF-4878-8D04-E8BB9A050E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xmlns="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xmlns="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xmlns="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xmlns="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xmlns="" id="{6D8D9106-8780-461D-9091-E074B0A3C9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xmlns="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xmlns="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xmlns="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xmlns="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xmlns="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xmlns="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xmlns="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xmlns="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AE202E03-5C65-4305-B969-65220AD410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xmlns="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xmlns="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xmlns="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xmlns="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xmlns="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xmlns="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xmlns="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xmlns="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xmlns="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xmlns="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xmlns="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xmlns="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xmlns="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xmlns="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xmlns="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xmlns="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xmlns="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xmlns="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xmlns="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xmlns="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xmlns="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xmlns="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xmlns="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xmlns="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xmlns="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xmlns="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xmlns="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E4B72DA-52CB-4D39-A342-8857B4D959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21D9BCDA-DFB7-41A4-A7C7-CEE86CEDCB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xmlns="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xmlns="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xmlns="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xmlns="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xmlns="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xmlns="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xmlns="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xmlns="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xmlns="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xmlns="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xmlns="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xmlns="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B0DFD584-E5CF-41EF-B51E-679CE22DDF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E5C02DDF-25A6-42C7-9525-F279CE2095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xmlns="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xmlns="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xmlns="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xmlns="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727" y="166255"/>
            <a:ext cx="10626437" cy="2079551"/>
          </a:xfrm>
        </p:spPr>
        <p:txBody>
          <a:bodyPr/>
          <a:lstStyle/>
          <a:p>
            <a:r>
              <a:rPr lang="en-US" dirty="0" smtClean="0"/>
              <a:t>Smart Library management System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                   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               </a:t>
            </a:r>
            <a:r>
              <a:rPr lang="en-US" dirty="0" smtClean="0"/>
              <a:t>       using </a:t>
            </a:r>
            <a:r>
              <a:rPr lang="en-US" dirty="0" err="1" smtClean="0"/>
              <a:t>pega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                              </a:t>
            </a:r>
            <a:r>
              <a:rPr lang="en-US" sz="2400" dirty="0" smtClean="0"/>
              <a:t>By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363" y="2286000"/>
            <a:ext cx="7592291" cy="3754581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smtClean="0"/>
              <a:t>                         </a:t>
            </a:r>
            <a:r>
              <a:rPr lang="en-US" sz="2400" dirty="0" err="1" smtClean="0"/>
              <a:t>N.Noble</a:t>
            </a:r>
            <a:r>
              <a:rPr lang="en-US" sz="2400" dirty="0" smtClean="0"/>
              <a:t> </a:t>
            </a:r>
            <a:r>
              <a:rPr lang="en-US" sz="2400" dirty="0" err="1" smtClean="0"/>
              <a:t>Sujani</a:t>
            </a:r>
            <a:r>
              <a:rPr lang="en-US" sz="2400" dirty="0" smtClean="0"/>
              <a:t>        Y22AIT486</a:t>
            </a:r>
          </a:p>
          <a:p>
            <a:r>
              <a:rPr lang="en-US" sz="2400" dirty="0" smtClean="0"/>
              <a:t>                         </a:t>
            </a:r>
            <a:r>
              <a:rPr lang="en-US" sz="2400" dirty="0" err="1" smtClean="0"/>
              <a:t>M.Aswitha</a:t>
            </a:r>
            <a:r>
              <a:rPr lang="en-US" sz="2400" dirty="0" smtClean="0"/>
              <a:t>               Y22AIT477</a:t>
            </a:r>
          </a:p>
          <a:p>
            <a:r>
              <a:rPr lang="en-US" sz="2400" dirty="0" smtClean="0"/>
              <a:t>                         </a:t>
            </a:r>
            <a:r>
              <a:rPr lang="en-US" sz="2400" dirty="0" err="1" smtClean="0"/>
              <a:t>M.Rajeswari</a:t>
            </a:r>
            <a:r>
              <a:rPr lang="en-US" sz="2400" dirty="0" smtClean="0"/>
              <a:t>            Y22AIT479</a:t>
            </a:r>
          </a:p>
          <a:p>
            <a:r>
              <a:rPr lang="en-US" sz="2400" dirty="0" smtClean="0"/>
              <a:t>                         </a:t>
            </a:r>
            <a:r>
              <a:rPr lang="en-US" sz="2400" dirty="0" err="1" smtClean="0"/>
              <a:t>K.Harsha</a:t>
            </a:r>
            <a:r>
              <a:rPr lang="en-US" sz="2400" dirty="0" smtClean="0"/>
              <a:t>                 L23AIT538</a:t>
            </a:r>
          </a:p>
          <a:p>
            <a:r>
              <a:rPr lang="en-US" sz="2400" dirty="0" smtClean="0"/>
              <a:t>                         </a:t>
            </a:r>
            <a:r>
              <a:rPr lang="en-US" sz="2400" dirty="0" err="1" smtClean="0"/>
              <a:t>E.Jashuva</a:t>
            </a:r>
            <a:r>
              <a:rPr lang="en-US" sz="2400" dirty="0" smtClean="0"/>
              <a:t>               L23AIT534</a:t>
            </a:r>
          </a:p>
          <a:p>
            <a:r>
              <a:rPr lang="en-US" sz="2400" dirty="0" smtClean="0"/>
              <a:t>                       </a:t>
            </a:r>
          </a:p>
          <a:p>
            <a:r>
              <a:rPr lang="en-US" sz="2400" dirty="0" smtClean="0"/>
              <a:t>                          Under the Esteemed Guidance 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                                               of</a:t>
            </a:r>
          </a:p>
          <a:p>
            <a:r>
              <a:rPr lang="en-US" sz="2400" dirty="0" smtClean="0"/>
              <a:t>                                        </a:t>
            </a:r>
            <a:r>
              <a:rPr lang="en-US" sz="2400" dirty="0" err="1" smtClean="0"/>
              <a:t>Sk</a:t>
            </a:r>
            <a:r>
              <a:rPr lang="en-US" sz="2400" dirty="0" smtClean="0"/>
              <a:t> </a:t>
            </a:r>
            <a:r>
              <a:rPr lang="en-US" sz="2400" dirty="0" err="1" smtClean="0"/>
              <a:t>Shareen</a:t>
            </a:r>
            <a:endParaRPr lang="en-US" sz="2400" dirty="0" smtClean="0"/>
          </a:p>
          <a:p>
            <a:r>
              <a:rPr lang="en-US" sz="2400" dirty="0" smtClean="0"/>
              <a:t>                                   Assistant Professor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19F29B-F233-48AF-8261-F33A4E079E3E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90" y="651164"/>
            <a:ext cx="3948545" cy="5818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</a:t>
            </a:r>
            <a:r>
              <a:rPr lang="en-US" sz="2700" dirty="0" smtClean="0"/>
              <a:t>omain knowledge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E3EA69-4E0E-41BD-8095-A124225A2647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90" y="1524866"/>
            <a:ext cx="7893628" cy="40585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Low-code platform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Focuses on logic and functionality instead of complex coding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Faster development (up to 10x faster)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All-in-one platform (frontend, backend, database, cloud in one system)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Rule-based system (everything in </a:t>
            </a:r>
            <a:r>
              <a:rPr lang="en-US" sz="1800" dirty="0" err="1" smtClean="0"/>
              <a:t>Pega</a:t>
            </a:r>
            <a:r>
              <a:rPr lang="en-US" sz="1800" dirty="0" smtClean="0"/>
              <a:t> is a rule)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Automatic code generation in the background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Supports workflow automation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Used for BPM (Business Process Management)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Used for CRM (Customer Relationship Management)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6871" y="166255"/>
            <a:ext cx="7038109" cy="628046"/>
          </a:xfrm>
        </p:spPr>
        <p:txBody>
          <a:bodyPr/>
          <a:lstStyle/>
          <a:p>
            <a:r>
              <a:rPr lang="en-US" dirty="0" smtClean="0"/>
              <a:t>Architecture </a:t>
            </a:r>
            <a:endParaRPr lang="en-US" dirty="0"/>
          </a:p>
        </p:txBody>
      </p:sp>
      <p:pic>
        <p:nvPicPr>
          <p:cNvPr id="9" name="Content Placeholder 8" descr="WhatsApp Image 2026-02-25 at 17.18.03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003" y="775855"/>
            <a:ext cx="7097887" cy="5763489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8037" y="263236"/>
            <a:ext cx="7024255" cy="558771"/>
          </a:xfrm>
        </p:spPr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748147"/>
            <a:ext cx="7024254" cy="5638800"/>
          </a:xfrm>
        </p:spPr>
        <p:txBody>
          <a:bodyPr>
            <a:noAutofit/>
          </a:bodyPr>
          <a:lstStyle/>
          <a:p>
            <a:r>
              <a:rPr lang="en-US" sz="1800" b="1" dirty="0" smtClean="0"/>
              <a:t>Methodology – Development Approach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Low-Code </a:t>
            </a:r>
            <a:r>
              <a:rPr lang="en-US" sz="1800" b="1" dirty="0" smtClean="0"/>
              <a:t>Development </a:t>
            </a:r>
            <a:r>
              <a:rPr lang="en-US" sz="1800" b="1" dirty="0" smtClean="0"/>
              <a:t>Method                                         </a:t>
            </a:r>
            <a:endParaRPr lang="en-US" sz="1800" dirty="0" smtClean="0"/>
          </a:p>
          <a:p>
            <a:pPr lvl="1"/>
            <a:r>
              <a:rPr lang="en-US" sz="1800" dirty="0" smtClean="0"/>
              <a:t>Build applications using visual tools instead of </a:t>
            </a:r>
            <a:r>
              <a:rPr lang="en-US" sz="1800" dirty="0" smtClean="0"/>
              <a:t>coding</a:t>
            </a:r>
          </a:p>
          <a:p>
            <a:pPr lvl="1"/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Agile Methodology</a:t>
            </a:r>
            <a:endParaRPr lang="en-US" sz="1800" dirty="0" smtClean="0"/>
          </a:p>
          <a:p>
            <a:pPr lvl="1"/>
            <a:r>
              <a:rPr lang="en-US" sz="1800" dirty="0" smtClean="0"/>
              <a:t>Development in small phases (iterations)</a:t>
            </a:r>
          </a:p>
          <a:p>
            <a:pPr lvl="1"/>
            <a:r>
              <a:rPr lang="en-US" sz="1800" dirty="0" smtClean="0"/>
              <a:t>Continuous improvement and </a:t>
            </a:r>
            <a:r>
              <a:rPr lang="en-US" sz="1800" dirty="0" smtClean="0"/>
              <a:t>testing</a:t>
            </a:r>
          </a:p>
          <a:p>
            <a:pPr lvl="1"/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Case Management Approach</a:t>
            </a:r>
            <a:endParaRPr lang="en-US" sz="1800" dirty="0" smtClean="0"/>
          </a:p>
          <a:p>
            <a:pPr lvl="1"/>
            <a:r>
              <a:rPr lang="en-US" sz="1800" dirty="0" smtClean="0"/>
              <a:t>Each request handled as a </a:t>
            </a:r>
            <a:r>
              <a:rPr lang="en-US" sz="1800" b="1" dirty="0" smtClean="0"/>
              <a:t>case</a:t>
            </a:r>
            <a:endParaRPr lang="en-US" sz="1800" dirty="0" smtClean="0"/>
          </a:p>
          <a:p>
            <a:pPr lvl="1"/>
            <a:r>
              <a:rPr lang="en-US" sz="1800" dirty="0" smtClean="0"/>
              <a:t>Example: Book Request → Approval → Issue → </a:t>
            </a:r>
            <a:r>
              <a:rPr lang="en-US" sz="1800" dirty="0" smtClean="0"/>
              <a:t>Return</a:t>
            </a:r>
            <a:endParaRPr lang="en-US" sz="1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6885710" y="914401"/>
            <a:ext cx="502919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Rule-Based Development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Business rules define system behavior</a:t>
            </a:r>
          </a:p>
          <a:p>
            <a:pPr lvl="1"/>
            <a:r>
              <a:rPr lang="en-US" dirty="0" smtClean="0"/>
              <a:t>Easy to update without changing code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Continuous </a:t>
            </a:r>
            <a:r>
              <a:rPr lang="en-US" b="1" dirty="0" smtClean="0"/>
              <a:t>Testing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Testing </a:t>
            </a:r>
            <a:r>
              <a:rPr lang="en-US" dirty="0" smtClean="0"/>
              <a:t>at every stage of development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User-Centric </a:t>
            </a:r>
            <a:r>
              <a:rPr lang="en-US" b="1" dirty="0" smtClean="0"/>
              <a:t>Design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Focus </a:t>
            </a:r>
            <a:r>
              <a:rPr lang="en-US" dirty="0" smtClean="0"/>
              <a:t>on easy and simple user experience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90" y="166255"/>
            <a:ext cx="9497291" cy="156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Partial implementation of a project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book issue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7" name="Content Placeholder 6" descr="WhatsApp Image 2026-02-25 at 13.00.18 (3).jpeg"/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748145" y="1853681"/>
            <a:ext cx="10626435" cy="435315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218" y="914400"/>
            <a:ext cx="10515600" cy="817418"/>
          </a:xfrm>
        </p:spPr>
        <p:txBody>
          <a:bodyPr/>
          <a:lstStyle/>
          <a:p>
            <a:r>
              <a:rPr lang="en-US" dirty="0" smtClean="0"/>
              <a:t>Book Acknowledgement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7713" y="2047875"/>
            <a:ext cx="1069657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924" y="263236"/>
            <a:ext cx="6319058" cy="494290"/>
          </a:xfrm>
        </p:spPr>
        <p:txBody>
          <a:bodyPr/>
          <a:lstStyle/>
          <a:p>
            <a:r>
              <a:rPr lang="en-US" dirty="0" smtClean="0"/>
              <a:t>Book Return </a:t>
            </a:r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2327" y="3583998"/>
            <a:ext cx="9047018" cy="2512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4757" y="1143865"/>
            <a:ext cx="9086850" cy="2125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992" y="337996"/>
            <a:ext cx="7868444" cy="714950"/>
          </a:xfrm>
        </p:spPr>
        <p:txBody>
          <a:bodyPr>
            <a:normAutofit/>
          </a:bodyPr>
          <a:lstStyle/>
          <a:p>
            <a:r>
              <a:rPr lang="en-US" dirty="0" smtClean="0"/>
              <a:t>Book approval &amp; Cancel </a:t>
            </a:r>
            <a:endParaRPr lang="en-US" dirty="0"/>
          </a:p>
        </p:txBody>
      </p:sp>
      <p:pic>
        <p:nvPicPr>
          <p:cNvPr id="21506" name="Picture 2" descr="C:\Users\LENOVO\Downloads\WhatsApp Image 2026-02-25 at 13.00.18 (4)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4108" y="1367986"/>
            <a:ext cx="8617527" cy="2401605"/>
          </a:xfrm>
          <a:prstGeom prst="rect">
            <a:avLst/>
          </a:prstGeom>
          <a:noFill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1819" y="4060248"/>
            <a:ext cx="9005454" cy="203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939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055" y="471055"/>
            <a:ext cx="8672946" cy="645968"/>
          </a:xfrm>
        </p:spPr>
        <p:txBody>
          <a:bodyPr>
            <a:normAutofit/>
          </a:bodyPr>
          <a:lstStyle/>
          <a:p>
            <a:r>
              <a:rPr lang="en-US" dirty="0" smtClean="0"/>
              <a:t>Student registration CASE TYPE  </a:t>
            </a:r>
            <a:endParaRPr lang="en-US" dirty="0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292" y="1523133"/>
            <a:ext cx="9998653" cy="465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23308" y="387927"/>
            <a:ext cx="6061363" cy="513427"/>
          </a:xfrm>
        </p:spPr>
        <p:txBody>
          <a:bodyPr>
            <a:noAutofit/>
          </a:bodyPr>
          <a:lstStyle/>
          <a:p>
            <a:r>
              <a:rPr lang="en-US" sz="3200" noProof="1" smtClean="0"/>
              <a:t>BOOK ISSUE CASE TYPE</a:t>
            </a:r>
            <a:endParaRPr lang="en-US" sz="3200" noProof="1"/>
          </a:p>
        </p:txBody>
      </p:sp>
      <p:pic>
        <p:nvPicPr>
          <p:cNvPr id="18" name="Content Placeholder 17" descr="WhatsApp Image 2026-02-25 at 13.03.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10" y="1343015"/>
            <a:ext cx="10792690" cy="522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781" y="249381"/>
            <a:ext cx="6483928" cy="1123231"/>
          </a:xfrm>
        </p:spPr>
        <p:txBody>
          <a:bodyPr/>
          <a:lstStyle/>
          <a:p>
            <a:r>
              <a:rPr lang="en-US" dirty="0" smtClean="0"/>
              <a:t>BOOK RETURN CASE TYPE </a:t>
            </a:r>
            <a:endParaRPr lang="en-US" dirty="0"/>
          </a:p>
        </p:txBody>
      </p:sp>
      <p:pic>
        <p:nvPicPr>
          <p:cNvPr id="20" name="Content Placeholder 19" descr="WhatsApp Image 2026-02-25 at 13.03.03 (1)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" y="1468581"/>
            <a:ext cx="10848109" cy="4862945"/>
          </a:xfrm>
        </p:spPr>
      </p:pic>
    </p:spTree>
    <p:extLst>
      <p:ext uri="{BB962C8B-B14F-4D97-AF65-F5344CB8AC3E}">
        <p14:creationId xmlns:p14="http://schemas.microsoft.com/office/powerpoint/2010/main" xmlns="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45" y="207818"/>
            <a:ext cx="9240983" cy="629165"/>
          </a:xfrm>
        </p:spPr>
        <p:txBody>
          <a:bodyPr/>
          <a:lstStyle/>
          <a:p>
            <a:r>
              <a:rPr lang="en-US" sz="3200" dirty="0" smtClean="0"/>
              <a:t>BOOKS MANAGEMENT CASE TYPE</a:t>
            </a:r>
            <a:endParaRPr lang="en-US" sz="3200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7528" y="983673"/>
            <a:ext cx="9947563" cy="530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0778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546" y="734291"/>
            <a:ext cx="3241963" cy="715926"/>
          </a:xfrm>
        </p:spPr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583" y="2189018"/>
            <a:ext cx="5638799" cy="343592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Low-code development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Faster </a:t>
            </a:r>
            <a:r>
              <a:rPr lang="en-US" sz="2400" dirty="0" smtClean="0"/>
              <a:t>application development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Automates library processes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Reduces manual work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Easy to manage using rules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190508" y="4879351"/>
            <a:ext cx="45581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Scalable </a:t>
            </a:r>
            <a:r>
              <a:rPr lang="en-US" sz="2400" dirty="0" smtClean="0"/>
              <a:t>and flexible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9236" y="2092035"/>
            <a:ext cx="5417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 typeface="Wingdings" pitchFamily="2" charset="2"/>
              <a:buChar char="Ø"/>
            </a:pPr>
            <a:r>
              <a:rPr lang="en-US" sz="2400" dirty="0" smtClean="0"/>
              <a:t>User-friendly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32788" y="2814843"/>
            <a:ext cx="3640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Real-time book 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96056" y="3466007"/>
            <a:ext cx="3059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Improves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540" y="4131024"/>
            <a:ext cx="4487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Accurate record management</a:t>
            </a:r>
          </a:p>
        </p:txBody>
      </p:sp>
    </p:spTree>
    <p:extLst>
      <p:ext uri="{BB962C8B-B14F-4D97-AF65-F5344CB8AC3E}">
        <p14:creationId xmlns:p14="http://schemas.microsoft.com/office/powerpoint/2010/main" xmlns="" val="243649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0182" y="2396836"/>
            <a:ext cx="7051963" cy="1828800"/>
          </a:xfrm>
        </p:spPr>
        <p:txBody>
          <a:bodyPr>
            <a:noAutofit/>
          </a:bodyPr>
          <a:lstStyle/>
          <a:p>
            <a:r>
              <a:rPr lang="en-US" sz="8000" dirty="0" smtClean="0"/>
              <a:t>Thank you</a:t>
            </a:r>
            <a:endParaRPr lang="en-US" sz="8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220</TotalTime>
  <Words>249</Words>
  <Application>Microsoft Office PowerPoint</Application>
  <PresentationFormat>Custom</PresentationFormat>
  <Paragraphs>74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Monoline</vt:lpstr>
      <vt:lpstr>Smart Library management System                                               using pega                                By</vt:lpstr>
      <vt:lpstr>Domain knowledge </vt:lpstr>
      <vt:lpstr>Architecture </vt:lpstr>
      <vt:lpstr>METHODOLOGY</vt:lpstr>
      <vt:lpstr>Partial implementation of a project   book issue </vt:lpstr>
      <vt:lpstr>Book Acknowledgement</vt:lpstr>
      <vt:lpstr>Book Return </vt:lpstr>
      <vt:lpstr>Book approval &amp; Cancel </vt:lpstr>
      <vt:lpstr>Student registration CASE TYPE  </vt:lpstr>
      <vt:lpstr>Slide 10</vt:lpstr>
      <vt:lpstr>BOOK RETURN CASE TYPE </vt:lpstr>
      <vt:lpstr>BOOKS MANAGEMENT CASE TYPE</vt:lpstr>
      <vt:lpstr>ADVANTAGES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management System                                               using pega</dc:title>
  <dc:creator>Nelapati Noble Sujani</dc:creator>
  <cp:lastModifiedBy>LENOVO</cp:lastModifiedBy>
  <cp:revision>22</cp:revision>
  <dcterms:created xsi:type="dcterms:W3CDTF">2026-02-25T07:12:51Z</dcterms:created>
  <dcterms:modified xsi:type="dcterms:W3CDTF">2026-02-25T11:51:58Z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