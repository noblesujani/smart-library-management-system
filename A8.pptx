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3" r:id="rId1"/>
  </p:sldMasterIdLst>
  <p:notesMasterIdLst>
    <p:notesMasterId r:id="rId23"/>
  </p:notesMasterIdLst>
  <p:sldIdLst>
    <p:sldId id="256" r:id="rId2"/>
    <p:sldId id="262" r:id="rId3"/>
    <p:sldId id="263" r:id="rId4"/>
    <p:sldId id="275" r:id="rId5"/>
    <p:sldId id="276" r:id="rId6"/>
    <p:sldId id="283" r:id="rId7"/>
    <p:sldId id="257" r:id="rId8"/>
    <p:sldId id="259" r:id="rId9"/>
    <p:sldId id="287" r:id="rId10"/>
    <p:sldId id="260" r:id="rId11"/>
    <p:sldId id="271" r:id="rId12"/>
    <p:sldId id="261" r:id="rId13"/>
    <p:sldId id="266" r:id="rId14"/>
    <p:sldId id="267" r:id="rId15"/>
    <p:sldId id="284" r:id="rId16"/>
    <p:sldId id="285" r:id="rId17"/>
    <p:sldId id="286" r:id="rId18"/>
    <p:sldId id="268" r:id="rId19"/>
    <p:sldId id="278" r:id="rId20"/>
    <p:sldId id="264" r:id="rId21"/>
    <p:sldId id="26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94660"/>
  </p:normalViewPr>
  <p:slideViewPr>
    <p:cSldViewPr snapToGrid="0">
      <p:cViewPr>
        <p:scale>
          <a:sx n="71" d="100"/>
          <a:sy n="71" d="100"/>
        </p:scale>
        <p:origin x="642" y="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60C3B-D888-410D-BC77-48C656AF0B3A}" type="datetimeFigureOut">
              <a:rPr lang="en-IN" smtClean="0"/>
              <a:pPr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C8B12C-3F35-40B6-BF99-1FED4FE2228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009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C8B12C-3F35-40B6-BF99-1FED4FE22289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661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33422-74CF-4478-ADFD-6B8D55D4DBC4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26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20DF-9819-4B6B-B431-1F696545589B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385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B959-16AE-479F-8E58-95A232131781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267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EC4D1-BF59-4238-B728-A7BDFE1457D9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904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FA419-C812-488D-BF69-C5CF0C856D8F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10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10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EF2E7-FB35-4C33-833B-37867DCDE8A5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1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86975-73AA-473F-8E79-F8FF010EC26D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282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0642B-81D1-49F8-A4B4-9081CBCA1C20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593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D190-806D-456B-BFBF-03217707ECA8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10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93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AFD70-CC42-4CED-BAFD-2CFFE23B4A68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14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EC3F5-073E-42F1-9E49-167B1EAEB942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9741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911AF-D425-40AD-B5CF-3AF4FB749624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5175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D3ED5-ECF0-4AD0-9B90-C5D7BBC59760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220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78AD-54F3-40F1-B84E-335834B781EA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584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7CFEF-1DF2-4F73-B5D9-6C31931FDC9B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912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63BF2-B973-45AC-9805-64D8B4FAD35A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368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2B4AC-C598-46D9-9306-09BCC6C3F84B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02DDC3E1-6C39-4E7C-9448-95807D387B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791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408AC-08D3-ADDA-47B6-0F10C1A33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3115" y="1800793"/>
            <a:ext cx="8686800" cy="102689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Library Management System Using PEGA</a:t>
            </a:r>
          </a:p>
        </p:txBody>
      </p:sp>
      <p:pic>
        <p:nvPicPr>
          <p:cNvPr id="4" name="Content Placeholder 15">
            <a:extLst>
              <a:ext uri="{FF2B5EF4-FFF2-40B4-BE49-F238E27FC236}">
                <a16:creationId xmlns:a16="http://schemas.microsoft.com/office/drawing/2014/main" id="{80EC51BF-E914-70C2-1457-D4EF570B216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8464" y="0"/>
            <a:ext cx="1576847" cy="15768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507FFA-118F-20E3-FC0C-299E37DBC2B1}"/>
              </a:ext>
            </a:extLst>
          </p:cNvPr>
          <p:cNvSpPr txBox="1"/>
          <p:nvPr/>
        </p:nvSpPr>
        <p:spPr>
          <a:xfrm>
            <a:off x="1942087" y="164741"/>
            <a:ext cx="73475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Bapatla Engineering College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B1EFC1-E0BE-7C84-1325-80B4ABF827F9}"/>
              </a:ext>
            </a:extLst>
          </p:cNvPr>
          <p:cNvSpPr txBox="1"/>
          <p:nvPr/>
        </p:nvSpPr>
        <p:spPr>
          <a:xfrm>
            <a:off x="2913133" y="1031352"/>
            <a:ext cx="496850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96916F-C68A-6BF6-84B3-2F317F585812}"/>
              </a:ext>
            </a:extLst>
          </p:cNvPr>
          <p:cNvSpPr txBox="1"/>
          <p:nvPr/>
        </p:nvSpPr>
        <p:spPr>
          <a:xfrm>
            <a:off x="2037169" y="2761132"/>
            <a:ext cx="7040071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ea typeface="Century Gothic Paneuropean" panose="020B0502020202020204"/>
                <a:cs typeface="Times New Roman" panose="02020603050405020304" pitchFamily="18" charset="0"/>
                <a:sym typeface="Century Gothic Paneuropean" panose="020B0502020202020204"/>
              </a:rPr>
              <a:t>Under The Esteemed Guidance of </a:t>
            </a:r>
          </a:p>
          <a:p>
            <a:pPr algn="ctr">
              <a:lnSpc>
                <a:spcPct val="150000"/>
              </a:lnSpc>
            </a:pPr>
            <a:r>
              <a:rPr lang="en-IN" sz="2600" dirty="0" err="1">
                <a:latin typeface="Times New Roman" panose="02020603050405020304" pitchFamily="18" charset="0"/>
                <a:ea typeface="Century Gothic Paneuropean" panose="020B0502020202020204"/>
                <a:cs typeface="Times New Roman" panose="02020603050405020304" pitchFamily="18" charset="0"/>
                <a:sym typeface="Century Gothic Paneuropean" panose="020B0502020202020204"/>
              </a:rPr>
              <a:t>Sk.Shareen</a:t>
            </a:r>
            <a:r>
              <a:rPr lang="en-IN" sz="2600" dirty="0">
                <a:latin typeface="Times New Roman" panose="02020603050405020304" pitchFamily="18" charset="0"/>
                <a:ea typeface="Century Gothic Paneuropean" panose="020B0502020202020204"/>
                <a:cs typeface="Times New Roman" panose="02020603050405020304" pitchFamily="18" charset="0"/>
                <a:sym typeface="Century Gothic Paneuropean" panose="020B0502020202020204"/>
              </a:rPr>
              <a:t> </a:t>
            </a:r>
          </a:p>
          <a:p>
            <a:pPr algn="ctr">
              <a:lnSpc>
                <a:spcPts val="5420"/>
              </a:lnSpc>
            </a:pPr>
            <a:r>
              <a:rPr lang="en-IN" sz="1400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" panose="020B0502020202020204"/>
                <a:cs typeface="Times New Roman" panose="02020603050405020304" pitchFamily="18" charset="0"/>
                <a:sym typeface="Century Gothic Paneuropean" panose="020B0502020202020204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D46C56-4BFF-4F37-E34C-293A26B82EEB}"/>
              </a:ext>
            </a:extLst>
          </p:cNvPr>
          <p:cNvSpPr txBox="1"/>
          <p:nvPr/>
        </p:nvSpPr>
        <p:spPr>
          <a:xfrm>
            <a:off x="4439831" y="3890015"/>
            <a:ext cx="6101394" cy="665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20"/>
              </a:lnSpc>
            </a:pPr>
            <a:r>
              <a:rPr lang="en-IN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 panose="020B0702020202020204"/>
                <a:cs typeface="Times New Roman" panose="02020603050405020304" pitchFamily="18" charset="0"/>
                <a:sym typeface="Century Gothic Paneuropean Bold" panose="020B0702020202020204"/>
              </a:rPr>
              <a:t>Presented By,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D6A047-94ED-07B4-17CF-607A88124DBB}"/>
              </a:ext>
            </a:extLst>
          </p:cNvPr>
          <p:cNvSpPr txBox="1"/>
          <p:nvPr/>
        </p:nvSpPr>
        <p:spPr>
          <a:xfrm>
            <a:off x="8172954" y="3879675"/>
            <a:ext cx="610139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420"/>
              </a:lnSpc>
            </a:pPr>
            <a:r>
              <a:rPr lang="en-IN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 panose="020B0702020202020204"/>
                <a:cs typeface="Times New Roman" panose="02020603050405020304" pitchFamily="18" charset="0"/>
                <a:sym typeface="Century Gothic Paneuropean Bold" panose="020B0702020202020204"/>
              </a:rPr>
              <a:t>Batch – A8.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676817-7472-A794-BBD5-8E34ECC8ECCF}"/>
              </a:ext>
            </a:extLst>
          </p:cNvPr>
          <p:cNvSpPr txBox="1"/>
          <p:nvPr/>
        </p:nvSpPr>
        <p:spPr>
          <a:xfrm>
            <a:off x="6638162" y="4685089"/>
            <a:ext cx="45854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 panose="020B0702020202020204"/>
                <a:cs typeface="Times New Roman" panose="02020603050405020304" pitchFamily="18" charset="0"/>
                <a:sym typeface="Century Gothic Paneuropean Bold" panose="020B0702020202020204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 panose="020B0702020202020204"/>
                <a:cs typeface="Times New Roman" panose="02020603050405020304" pitchFamily="18" charset="0"/>
                <a:sym typeface="Century Gothic Paneuropean" panose="020B0502020202020204"/>
              </a:rPr>
              <a:t>N.Noble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 panose="020B0702020202020204"/>
                <a:cs typeface="Times New Roman" panose="02020603050405020304" pitchFamily="18" charset="0"/>
                <a:sym typeface="Century Gothic Paneuropean" panose="020B0502020202020204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 panose="020B0702020202020204"/>
                <a:cs typeface="Times New Roman" panose="02020603050405020304" pitchFamily="18" charset="0"/>
                <a:sym typeface="Century Gothic Paneuropean" panose="020B0502020202020204"/>
              </a:rPr>
              <a:t>Sujani</a:t>
            </a: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" panose="020B0502020202020204"/>
                <a:cs typeface="Times New Roman" panose="02020603050405020304" pitchFamily="18" charset="0"/>
                <a:sym typeface="Century Gothic Paneuropean" panose="020B0502020202020204"/>
              </a:rPr>
              <a:t>(Y22AIT486)</a:t>
            </a:r>
          </a:p>
          <a:p>
            <a:r>
              <a:rPr lang="en-IN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 panose="020B0702020202020204"/>
                <a:cs typeface="Times New Roman" panose="02020603050405020304" pitchFamily="18" charset="0"/>
                <a:sym typeface="Century Gothic Paneuropean Bold" panose="020B0702020202020204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 panose="020B0702020202020204"/>
                <a:cs typeface="Times New Roman" panose="02020603050405020304" pitchFamily="18" charset="0"/>
                <a:sym typeface="Century Gothic Paneuropean" panose="020B0502020202020204"/>
              </a:rPr>
              <a:t>M.Aswitha</a:t>
            </a: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" panose="020B0502020202020204"/>
                <a:cs typeface="Times New Roman" panose="02020603050405020304" pitchFamily="18" charset="0"/>
                <a:sym typeface="Century Gothic Paneuropean" panose="020B0502020202020204"/>
              </a:rPr>
              <a:t>(Y22AIT477)</a:t>
            </a:r>
          </a:p>
          <a:p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" panose="020B0502020202020204"/>
                <a:cs typeface="Times New Roman" panose="02020603050405020304" pitchFamily="18" charset="0"/>
                <a:sym typeface="Century Gothic Paneuropean" panose="020B0502020202020204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  <a:ea typeface="Century Gothic Paneuropean" panose="020B0502020202020204"/>
                <a:cs typeface="Times New Roman" panose="02020603050405020304" pitchFamily="18" charset="0"/>
                <a:sym typeface="Century Gothic Paneuropean" panose="020B0502020202020204"/>
              </a:rPr>
              <a:t>M.Rajeswari</a:t>
            </a: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" panose="020B0502020202020204"/>
                <a:cs typeface="Times New Roman" panose="02020603050405020304" pitchFamily="18" charset="0"/>
                <a:sym typeface="Century Gothic Paneuropean" panose="020B0502020202020204"/>
              </a:rPr>
              <a:t>(Y22AIT479)</a:t>
            </a:r>
          </a:p>
          <a:p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" panose="020B0502020202020204"/>
                <a:cs typeface="Times New Roman" panose="02020603050405020304" pitchFamily="18" charset="0"/>
                <a:sym typeface="Century Gothic Paneuropean" panose="020B0502020202020204"/>
              </a:rPr>
              <a:t> </a:t>
            </a:r>
            <a:r>
              <a:rPr lang="en-IN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Century Gothic Paneuropean" panose="020B0502020202020204"/>
                <a:cs typeface="Times New Roman" panose="02020603050405020304" pitchFamily="18" charset="0"/>
                <a:sym typeface="Century Gothic Paneuropean" panose="020B0502020202020204"/>
              </a:rPr>
              <a:t>K.Harsha</a:t>
            </a: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" panose="020B0502020202020204"/>
                <a:cs typeface="Times New Roman" panose="02020603050405020304" pitchFamily="18" charset="0"/>
                <a:sym typeface="Century Gothic Paneuropean" panose="020B0502020202020204"/>
              </a:rPr>
              <a:t>(L23AIT538)</a:t>
            </a:r>
          </a:p>
          <a:p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 panose="020B0702020202020204"/>
                <a:cs typeface="Times New Roman" panose="02020603050405020304" pitchFamily="18" charset="0"/>
                <a:sym typeface="Century Gothic Paneuropean" panose="020B0502020202020204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 panose="020B0702020202020204"/>
                <a:cs typeface="Times New Roman" panose="02020603050405020304" pitchFamily="18" charset="0"/>
                <a:sym typeface="Century Gothic Paneuropean" panose="020B0502020202020204"/>
              </a:rPr>
              <a:t>E.Jashuva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 panose="020B0702020202020204"/>
                <a:cs typeface="Times New Roman" panose="02020603050405020304" pitchFamily="18" charset="0"/>
                <a:sym typeface="Century Gothic Paneuropean" panose="020B0502020202020204"/>
              </a:rPr>
              <a:t>(L23AIT5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 panose="020B0702020202020204"/>
                <a:cs typeface="Times New Roman" panose="02020603050405020304" pitchFamily="18" charset="0"/>
                <a:sym typeface="Century Gothic Paneuropean Bold" panose="020B0702020202020204"/>
              </a:rPr>
              <a:t>34)</a:t>
            </a:r>
            <a:r>
              <a:rPr lang="en-IN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 panose="020B0702020202020204"/>
                <a:cs typeface="Times New Roman" panose="02020603050405020304" pitchFamily="18" charset="0"/>
                <a:sym typeface="Century Gothic Paneuropean Bold" panose="020B0702020202020204"/>
              </a:rPr>
              <a:t>    </a:t>
            </a:r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EF5D7D-1FBD-0F8D-3B0A-0926FE1FC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02DDC3E1-6C39-4E7C-9448-95807D387BC7}" type="slidenum">
              <a:rPr lang="en-IN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</a:t>
            </a:fld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222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AE1229-D290-965A-F0BF-E0A30B252D4E}"/>
              </a:ext>
            </a:extLst>
          </p:cNvPr>
          <p:cNvSpPr txBox="1"/>
          <p:nvPr/>
        </p:nvSpPr>
        <p:spPr>
          <a:xfrm>
            <a:off x="946768" y="0"/>
            <a:ext cx="9402945" cy="714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Knowledge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and Methodology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F5FF0-4664-D194-822B-035798127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593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471222-8E1E-225A-A1E0-5A3E5D4F501F}"/>
              </a:ext>
            </a:extLst>
          </p:cNvPr>
          <p:cNvSpPr txBox="1"/>
          <p:nvPr/>
        </p:nvSpPr>
        <p:spPr>
          <a:xfrm>
            <a:off x="129473" y="218485"/>
            <a:ext cx="10319451" cy="2582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" panose="020B0502020202020204"/>
                <a:cs typeface="Times New Roman" panose="02020603050405020304" pitchFamily="18" charset="0"/>
                <a:sym typeface="Century Gothic Paneuropean" panose="020B0502020202020204"/>
              </a:rPr>
              <a:t> 	</a:t>
            </a:r>
          </a:p>
          <a:p>
            <a:pPr algn="ctr"/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" panose="020B0502020202020204"/>
                <a:cs typeface="Times New Roman" panose="02020603050405020304" pitchFamily="18" charset="0"/>
                <a:sym typeface="Century Gothic Paneuropean" panose="020B0502020202020204"/>
              </a:rPr>
              <a:t>Abstract</a:t>
            </a:r>
          </a:p>
          <a:p>
            <a:pPr algn="just"/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entury Gothic Paneuropean" panose="020B0502020202020204"/>
              <a:cs typeface="Times New Roman" panose="02020603050405020304" pitchFamily="18" charset="0"/>
              <a:sym typeface="Century Gothic Paneuropean" panose="020B0502020202020204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" panose="020B0502020202020204"/>
                <a:cs typeface="Times New Roman" panose="02020603050405020304" pitchFamily="18" charset="0"/>
                <a:sym typeface="Century Gothic Paneuropean" panose="020B0502020202020204"/>
              </a:rPr>
              <a:t>                                                          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" panose="020B0502020202020204"/>
                <a:cs typeface="Times New Roman" panose="02020603050405020304" pitchFamily="18" charset="0"/>
                <a:sym typeface="Century Gothic Paneuropean" panose="020B0502020202020204"/>
              </a:rPr>
              <a:t> </a:t>
            </a:r>
          </a:p>
          <a:p>
            <a:pPr algn="just">
              <a:lnSpc>
                <a:spcPts val="4300"/>
              </a:lnSpc>
            </a:pP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ea typeface="Century Gothic Paneuropean" panose="020B0502020202020204"/>
              <a:cs typeface="Times New Roman" panose="02020603050405020304" pitchFamily="18" charset="0"/>
              <a:sym typeface="Century Gothic Paneuropean" panose="020B0502020202020204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966DF-7E1F-B6EC-6B7D-505589EF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5422" y="1084076"/>
            <a:ext cx="969264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Smart Library Management System using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Pega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an advanced low-code application designed to automate and optimize the daily operations of a library. Traditional library systems rely heavily on manual processes, which are time-consuming, error-prone, and inefficient.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system leverages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Pega’s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powerful case management and workflow automation capabilities to digitize core library functions such as book search, issue, return, fine calculation, and user management. Each operation is treated as a case, ensuring proper tracking, transparency, and faster processing.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system also provides role-based access for students and administrators, ensuring secure and organized handling of library resources. By integrating business rules and automated decision-making, the system enhances operational efficiency and improves the overall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3659294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F4ED14-59A1-5202-4894-BB3943F5B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7960DF-E13D-CEA9-6C93-9B625ACB097B}"/>
              </a:ext>
            </a:extLst>
          </p:cNvPr>
          <p:cNvSpPr txBox="1"/>
          <p:nvPr/>
        </p:nvSpPr>
        <p:spPr>
          <a:xfrm>
            <a:off x="331773" y="331773"/>
            <a:ext cx="10357806" cy="582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3065" lvl="1" algn="ctr">
              <a:lnSpc>
                <a:spcPct val="15000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" panose="020B0502020202020204"/>
                <a:cs typeface="Times New Roman" panose="02020603050405020304" pitchFamily="18" charset="0"/>
                <a:sym typeface="Century Gothic Paneuropean" panose="020B0502020202020204"/>
              </a:rPr>
              <a:t>Problem Statement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Libraries that rely on manual or semi-automated systems face multiple challenges: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Difficulty in maintaining accurate records of books and users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Time-consuming book issue and return processes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Lack of real-time availability status of books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Errors in fine calculation and due date tracking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Limited accessibility for users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address these issues, there is a need for an automated, intelligent, and scalable system. The proposed solution uses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Pega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to build a smart, workflow-driven library management system that ensures accuracy, speed, and ease of use.</a:t>
            </a:r>
          </a:p>
          <a:p>
            <a:pPr marL="786130" lvl="1" indent="-393065" algn="just">
              <a:lnSpc>
                <a:spcPts val="5095"/>
              </a:lnSpc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entury Gothic Paneuropean" panose="020B0502020202020204"/>
              <a:cs typeface="Times New Roman" panose="02020603050405020304" pitchFamily="18" charset="0"/>
              <a:sym typeface="Century Gothic Paneuropean" panose="020B0502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82162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2F616A-8F45-26B8-4DE0-D2DCBA537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D5EB8-3FB3-2131-A7A6-4C4A2ED2E946}"/>
              </a:ext>
            </a:extLst>
          </p:cNvPr>
          <p:cNvSpPr txBox="1"/>
          <p:nvPr/>
        </p:nvSpPr>
        <p:spPr>
          <a:xfrm>
            <a:off x="576774" y="1"/>
            <a:ext cx="10944666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3065" lvl="1" algn="ctr">
              <a:lnSpc>
                <a:spcPct val="150000"/>
              </a:lnSpc>
            </a:pPr>
            <a:r>
              <a:rPr lang="en-US" sz="4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Literature</a:t>
            </a:r>
            <a:r>
              <a:rPr lang="en-US" sz="4000" b="1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Review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Several existing systems have attempted to digitize library operations: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1. Traditional Library Management Systems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 basic database systems for storing records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Provide limited automation features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Depend on manual intervention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Limitation: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Lack of intelligent workflow and decision-making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2. Web-Based Library Systems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Allow users to search and reserve books online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Improve accessibility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Limitation: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Do not provide end-to-end automation or process tracking</a:t>
            </a: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rgbClr val="000000"/>
              </a:solidFill>
              <a:latin typeface="Times New Roman" pitchFamily="18" charset="0"/>
              <a:ea typeface="Century Gothic Paneuropean" panose="020B0502020202020204"/>
              <a:cs typeface="Times New Roman" pitchFamily="18" charset="0"/>
              <a:sym typeface="Century Gothic Paneuropean" panose="020B0502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420316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548640" y="843677"/>
            <a:ext cx="925654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3. Automated Systems with Basic AI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Introduce recommendation systems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Enhance user experience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Limitation: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Complex implementation and limited integration</a:t>
            </a: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Proposed System Advantage: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Pega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-based system overcomes these limitations by integrating workflow automation, real-time case tracking, and business rule management into a single platform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</a:endParaRPr>
          </a:p>
          <a:p>
            <a:pPr marL="393065" lvl="1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8812EC-E011-87E3-F30D-A7EA6AF6AA4E}"/>
              </a:ext>
            </a:extLst>
          </p:cNvPr>
          <p:cNvSpPr txBox="1"/>
          <p:nvPr/>
        </p:nvSpPr>
        <p:spPr>
          <a:xfrm>
            <a:off x="307497" y="0"/>
            <a:ext cx="9848008" cy="5055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</a:pPr>
            <a:endParaRPr lang="en-US" sz="4000" b="1" dirty="0">
              <a:solidFill>
                <a:srgbClr val="000000"/>
              </a:solidFill>
              <a:latin typeface="Times New Roman" panose="02020603050405020304" pitchFamily="18" charset="0"/>
              <a:ea typeface="Century Gothic Paneuropean" panose="020B0502020202020204"/>
              <a:cs typeface="Times New Roman" panose="02020603050405020304" pitchFamily="18" charset="0"/>
              <a:sym typeface="Century Gothic Paneuropean" panose="020B0502020202020204"/>
            </a:endParaRPr>
          </a:p>
          <a:p>
            <a:pPr algn="ctr">
              <a:lnSpc>
                <a:spcPts val="430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" panose="020B0502020202020204"/>
                <a:cs typeface="Times New Roman" panose="02020603050405020304" pitchFamily="18" charset="0"/>
                <a:sym typeface="Century Gothic Paneuropean" panose="020B0502020202020204"/>
              </a:rPr>
              <a:t>Domain Knowledge</a:t>
            </a:r>
          </a:p>
          <a:p>
            <a:pPr algn="ctr">
              <a:lnSpc>
                <a:spcPts val="4300"/>
              </a:lnSpc>
            </a:pPr>
            <a:endParaRPr lang="en-US" sz="2000" dirty="0">
              <a:solidFill>
                <a:srgbClr val="000000"/>
              </a:solidFill>
              <a:latin typeface="Times New Roman" pitchFamily="18" charset="0"/>
              <a:ea typeface="Century Gothic Paneuropean" panose="020B0502020202020204"/>
              <a:cs typeface="Times New Roman" pitchFamily="18" charset="0"/>
              <a:sym typeface="Century Gothic Paneuropean" panose="020B0502020202020204"/>
            </a:endParaRPr>
          </a:p>
          <a:p>
            <a:pPr algn="ctr">
              <a:lnSpc>
                <a:spcPts val="4300"/>
              </a:lnSpc>
            </a:pP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Century Gothic Paneuropean" panose="020B0502020202020204"/>
              <a:cs typeface="Times New Roman" panose="02020603050405020304" pitchFamily="18" charset="0"/>
              <a:sym typeface="Century Gothic Paneuropean" panose="020B0502020202020204"/>
            </a:endParaRPr>
          </a:p>
          <a:p>
            <a:pPr algn="ctr">
              <a:lnSpc>
                <a:spcPts val="4300"/>
              </a:lnSpc>
            </a:pP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Century Gothic Paneuropean" panose="020B0502020202020204"/>
              <a:cs typeface="Times New Roman" panose="02020603050405020304" pitchFamily="18" charset="0"/>
              <a:sym typeface="Century Gothic Paneuropean" panose="020B0502020202020204"/>
            </a:endParaRPr>
          </a:p>
          <a:p>
            <a:pPr algn="ctr">
              <a:lnSpc>
                <a:spcPts val="4300"/>
              </a:lnSpc>
            </a:pP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Century Gothic Paneuropean" panose="020B0502020202020204"/>
              <a:cs typeface="Times New Roman" panose="02020603050405020304" pitchFamily="18" charset="0"/>
              <a:sym typeface="Century Gothic Paneuropean" panose="020B0502020202020204"/>
            </a:endParaRPr>
          </a:p>
          <a:p>
            <a:pPr algn="ctr">
              <a:lnSpc>
                <a:spcPts val="4300"/>
              </a:lnSpc>
            </a:pP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Century Gothic Paneuropean" panose="020B0502020202020204"/>
              <a:cs typeface="Times New Roman" panose="02020603050405020304" pitchFamily="18" charset="0"/>
              <a:sym typeface="Century Gothic Paneuropean" panose="020B0502020202020204"/>
            </a:endParaRPr>
          </a:p>
          <a:p>
            <a:pPr algn="ctr">
              <a:lnSpc>
                <a:spcPts val="4300"/>
              </a:lnSpc>
            </a:pP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Century Gothic Paneuropean" panose="020B0502020202020204"/>
              <a:cs typeface="Times New Roman" panose="02020603050405020304" pitchFamily="18" charset="0"/>
              <a:sym typeface="Century Gothic Paneuropean" panose="020B0502020202020204"/>
            </a:endParaRPr>
          </a:p>
          <a:p>
            <a:pPr algn="ctr">
              <a:lnSpc>
                <a:spcPts val="4300"/>
              </a:lnSpc>
            </a:pP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Century Gothic Paneuropean" panose="020B0502020202020204"/>
              <a:cs typeface="Times New Roman" panose="02020603050405020304" pitchFamily="18" charset="0"/>
              <a:sym typeface="Century Gothic Paneuropean" panose="020B0502020202020204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BF0EC-9076-9BFC-F940-B36008F50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7113" y="1060833"/>
            <a:ext cx="8721969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system is built using key concepts of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Pega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Low-Code Development: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Enables rapid application development with minimal coding using visual tools 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Case Management: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Every library activity (book issue, return, fine payment) is treated as a case with a lifecycle 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Data Objects: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Used to store structured information such as Book Details, Member Information, and Transactions 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User Interface (UI):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Built using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Pega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sections and portals to provide an interactive experience 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Business Rules: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Used for automation such as due date calculation, fine computation, and validations 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Integration Capabilities: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Allows future integration with external systems like digital libraries or payment gateways</a:t>
            </a:r>
          </a:p>
        </p:txBody>
      </p:sp>
    </p:spTree>
    <p:extLst>
      <p:ext uri="{BB962C8B-B14F-4D97-AF65-F5344CB8AC3E}">
        <p14:creationId xmlns:p14="http://schemas.microsoft.com/office/powerpoint/2010/main" val="3114092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455A75-52DD-598C-18A2-7058F8411B63}"/>
              </a:ext>
            </a:extLst>
          </p:cNvPr>
          <p:cNvSpPr txBox="1"/>
          <p:nvPr/>
        </p:nvSpPr>
        <p:spPr>
          <a:xfrm>
            <a:off x="1105992" y="106028"/>
            <a:ext cx="90630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algn="ctr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8B35A1-A0FD-9998-11B8-539076F2C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329B7F-FA5C-3B1F-3CF8-2AB664B7B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812" y="1335743"/>
            <a:ext cx="7933764" cy="463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37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B659B9-0FAF-719B-7F9D-EBED8D0D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E61239-3371-C2AF-9095-8431FE257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06" y="451513"/>
            <a:ext cx="7587626" cy="498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386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992C09-611F-6BA7-E3AC-86FE25F37121}"/>
              </a:ext>
            </a:extLst>
          </p:cNvPr>
          <p:cNvSpPr txBox="1"/>
          <p:nvPr/>
        </p:nvSpPr>
        <p:spPr>
          <a:xfrm>
            <a:off x="736376" y="-37593"/>
            <a:ext cx="10503461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system is developed using the following steps: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Requirement Analysis: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Identify features like book issue, return, and fine calculation 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Case Design: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Define case types such as “Book Issue Case” and “Book Return Case” 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Data Modeling: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Create data objects for storing library information 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Workflow Design: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Design stages such as Request, Approval, Processing, and Completion 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UI Design: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Develop user-friendly forms and dashboards 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Rule Implementation: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Configure business rules for automation 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Testing: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Perform unit and system testing 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Deployment: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Deploy application for users</a:t>
            </a:r>
          </a:p>
          <a:p>
            <a:pPr marL="457200" indent="-45720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5746C-8B36-BC72-0014-0F3CB06C1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688" y="6457723"/>
            <a:ext cx="683339" cy="365125"/>
          </a:xfrm>
        </p:spPr>
        <p:txBody>
          <a:bodyPr/>
          <a:lstStyle/>
          <a:p>
            <a:fld id="{02DDC3E1-6C39-4E7C-9448-95807D387BC7}" type="slidenum">
              <a:rPr lang="en-IN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625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F9817F-A09A-6DD1-39EE-A2147E3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B6EDC-C811-FE4B-491F-82BFB64D93F1}"/>
              </a:ext>
            </a:extLst>
          </p:cNvPr>
          <p:cNvSpPr txBox="1"/>
          <p:nvPr/>
        </p:nvSpPr>
        <p:spPr>
          <a:xfrm>
            <a:off x="552450" y="676275"/>
            <a:ext cx="9372600" cy="6324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090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 panose="020B0702020202020204"/>
                <a:cs typeface="Times New Roman" panose="02020603050405020304" pitchFamily="18" charset="0"/>
                <a:sym typeface="Century Gothic Paneuropean Bold" panose="020B0702020202020204"/>
              </a:rPr>
              <a:t>System Requirements</a:t>
            </a: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1. Hardware Requirements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Intel i3 / i5 or higher 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Minimum 4 GB (8 GB recommended for smooth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Pega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performance) 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Minimum 256 GB SSD 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Network: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Stable internet connection 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Input Devices: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Keyboard and Mouse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2.Software Requirements 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Pega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-Specific Requirements</a:t>
            </a:r>
          </a:p>
          <a:p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Pega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App Studio: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For building application </a:t>
            </a:r>
          </a:p>
          <a:p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Pega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Dev Studio: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For advanced configuration 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Case Designer: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To design workflows 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Data Designer: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To manage data objects 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UI Designer: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For creating user interface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5090"/>
              </a:lnSpc>
            </a:pP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Century Gothic Paneuropean Bold" panose="020B0702020202020204"/>
              <a:cs typeface="Times New Roman" panose="02020603050405020304" pitchFamily="18" charset="0"/>
              <a:sym typeface="Century Gothic Paneuropean Bold" panose="020B0702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07351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9CE018-AC5C-E5CF-926D-412CDF0D1437}"/>
              </a:ext>
            </a:extLst>
          </p:cNvPr>
          <p:cNvSpPr txBox="1"/>
          <p:nvPr/>
        </p:nvSpPr>
        <p:spPr>
          <a:xfrm>
            <a:off x="381001" y="210392"/>
            <a:ext cx="9523650" cy="7940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Application developed using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Pega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App Studio (Low-Code Platform)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Created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Case Types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Book Issue Case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       Book Return Case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Designed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Workflows (Stages &amp; Steps)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Request → Validation → Approval → Completion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Developed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Data Objects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Book Details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               Member Details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               Transaction Records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Built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User Interface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Admin Portal (manage books/users)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       User Portal (search, issue, return books)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Implemented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Business Rules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Book availability check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                     Due date &amp; fine calculation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Performed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Testing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Unit Testing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     System Testing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Deployed on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Pega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Server (Tomcat)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for real-time access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FB68A-1BE6-5568-8FC2-A2885E125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071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84F1897-C48A-1FC6-8FA3-2879981D6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FC6EEA-B2C9-8364-CEE1-AB389683C0B2}"/>
              </a:ext>
            </a:extLst>
          </p:cNvPr>
          <p:cNvSpPr txBox="1"/>
          <p:nvPr/>
        </p:nvSpPr>
        <p:spPr>
          <a:xfrm>
            <a:off x="946429" y="0"/>
            <a:ext cx="1028805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>
              <a:buNone/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4050" y="573332"/>
            <a:ext cx="7315200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32185" y="3727352"/>
            <a:ext cx="7329267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5044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81B30C-589C-D460-DC41-A226C710EA7D}"/>
              </a:ext>
            </a:extLst>
          </p:cNvPr>
          <p:cNvSpPr txBox="1"/>
          <p:nvPr/>
        </p:nvSpPr>
        <p:spPr>
          <a:xfrm>
            <a:off x="314325" y="342900"/>
            <a:ext cx="9906000" cy="831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54DB1A-43FB-4EA3-8131-5D4AC42B8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8289" y="194604"/>
            <a:ext cx="7258929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50830" y="3246853"/>
            <a:ext cx="7174523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2899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15</a:t>
            </a:fld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21169" y="211015"/>
            <a:ext cx="6935373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3372" y="3274988"/>
            <a:ext cx="6780627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50831" y="170570"/>
            <a:ext cx="6822831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77441" y="3340565"/>
            <a:ext cx="6639950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mtClean="0"/>
              <a:pPr/>
              <a:t>17</a:t>
            </a:fld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61847" y="283113"/>
            <a:ext cx="6893168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8626" y="3559127"/>
            <a:ext cx="6921305" cy="291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7526D9-D46A-BB67-5E43-E5C13E0A9A97}"/>
              </a:ext>
            </a:extLst>
          </p:cNvPr>
          <p:cNvSpPr txBox="1"/>
          <p:nvPr/>
        </p:nvSpPr>
        <p:spPr>
          <a:xfrm>
            <a:off x="447675" y="0"/>
            <a:ext cx="10134600" cy="126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1CBCBA-DD91-F52C-D9D9-B78AFF876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36713-8311-8274-8BC9-89FADB87313A}"/>
              </a:ext>
            </a:extLst>
          </p:cNvPr>
          <p:cNvSpPr txBox="1"/>
          <p:nvPr/>
        </p:nvSpPr>
        <p:spPr>
          <a:xfrm>
            <a:off x="447675" y="299405"/>
            <a:ext cx="9885853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The Smart Library Management System using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Pega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successfully automates library operations and eliminates inefficiencies present in traditional systems.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By leveraging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Pega’s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low-code platform and case management capabilities, the system ensures better performance, scalability, and maintainability. It provides a reliable and user-friendly solution for modern libraries.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284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809E44-8DC1-C969-79CC-DC2DAABF5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DC3E1-6C39-4E7C-9448-95807D387BC7}" type="slidenum">
              <a:rPr lang="en-IN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619DD4-7A79-24F2-3A61-BD2AD7D48AC5}"/>
              </a:ext>
            </a:extLst>
          </p:cNvPr>
          <p:cNvSpPr txBox="1"/>
          <p:nvPr/>
        </p:nvSpPr>
        <p:spPr>
          <a:xfrm>
            <a:off x="194209" y="331773"/>
            <a:ext cx="109404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algn="ctr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80160" y="1448972"/>
            <a:ext cx="8004517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system can be further enhanced by: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Developing a mobile application for remote access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Integrating barcode/QR code scanning for faster processing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Adding AI-based book recommendation systems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Implementing online payment gateways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Generating advanced analytics and reports</a:t>
            </a:r>
          </a:p>
        </p:txBody>
      </p:sp>
    </p:spTree>
    <p:extLst>
      <p:ext uri="{BB962C8B-B14F-4D97-AF65-F5344CB8AC3E}">
        <p14:creationId xmlns:p14="http://schemas.microsoft.com/office/powerpoint/2010/main" val="705041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1583829-9239-AD0E-BA0C-A6E6CEB53168}"/>
              </a:ext>
            </a:extLst>
          </p:cNvPr>
          <p:cNvSpPr txBox="1"/>
          <p:nvPr/>
        </p:nvSpPr>
        <p:spPr>
          <a:xfrm>
            <a:off x="228600" y="2609850"/>
            <a:ext cx="111632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QUERIES..?</a:t>
            </a:r>
          </a:p>
        </p:txBody>
      </p:sp>
    </p:spTree>
    <p:extLst>
      <p:ext uri="{BB962C8B-B14F-4D97-AF65-F5344CB8AC3E}">
        <p14:creationId xmlns:p14="http://schemas.microsoft.com/office/powerpoint/2010/main" val="2931607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78B46C-2A65-012F-549D-89BE37D10723}"/>
              </a:ext>
            </a:extLst>
          </p:cNvPr>
          <p:cNvSpPr txBox="1"/>
          <p:nvPr/>
        </p:nvSpPr>
        <p:spPr>
          <a:xfrm>
            <a:off x="1085850" y="2771775"/>
            <a:ext cx="87344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96306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1342</TotalTime>
  <Words>995</Words>
  <Application>Microsoft Office PowerPoint</Application>
  <PresentationFormat>Widescreen</PresentationFormat>
  <Paragraphs>157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Smart Library Management System Using PEGA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GROUP PREDICTION USING FINGERPRINT ANAYLSIS</dc:title>
  <dc:creator>Srinaga Anusha</dc:creator>
  <cp:lastModifiedBy>Nelapati Noble Sujani</cp:lastModifiedBy>
  <cp:revision>215</cp:revision>
  <dcterms:created xsi:type="dcterms:W3CDTF">2025-03-24T03:11:44Z</dcterms:created>
  <dcterms:modified xsi:type="dcterms:W3CDTF">2026-04-07T05:40:33Z</dcterms:modified>
</cp:coreProperties>
</file>